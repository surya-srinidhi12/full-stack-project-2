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75" r:id="rId8"/>
    <p:sldId id="262" r:id="rId9"/>
    <p:sldId id="277" r:id="rId10"/>
    <p:sldId id="264" r:id="rId11"/>
    <p:sldId id="266" r:id="rId12"/>
    <p:sldId id="269" r:id="rId13"/>
    <p:sldId id="267" r:id="rId14"/>
    <p:sldId id="268" r:id="rId15"/>
    <p:sldId id="271" r:id="rId16"/>
    <p:sldId id="272" r:id="rId17"/>
    <p:sldId id="273" r:id="rId18"/>
    <p:sldId id="276" r:id="rId19"/>
    <p:sldId id="270" r:id="rId20"/>
    <p:sldId id="265" r:id="rId21"/>
  </p:sldIdLst>
  <p:sldSz cx="18288000" cy="10287000"/>
  <p:notesSz cx="6858000" cy="9144000"/>
  <p:embeddedFontLst>
    <p:embeddedFont>
      <p:font typeface="Bookman Old Style" panose="02050604050505020204" pitchFamily="18" charset="0"/>
      <p:regular r:id="rId23"/>
      <p:bold r:id="rId24"/>
      <p:italic r:id="rId25"/>
      <p:boldItalic r:id="rId26"/>
    </p:embeddedFont>
    <p:embeddedFont>
      <p:font typeface="Cambria" panose="02040503050406030204" pitchFamily="18" charset="0"/>
      <p:regular r:id="rId27"/>
      <p:bold r:id="rId28"/>
      <p:italic r:id="rId29"/>
      <p:boldItalic r:id="rId30"/>
    </p:embeddedFont>
    <p:embeddedFont>
      <p:font typeface="Gotham" panose="02000000000000000000" pitchFamily="2" charset="0"/>
      <p:regular r:id="rId31"/>
      <p:bold r:id="rId32"/>
      <p:italic r:id="rId33"/>
      <p:boldItalic r:id="rId34"/>
    </p:embeddedFont>
    <p:embeddedFont>
      <p:font typeface="Gotham Bold Italics" panose="02000000000000000000" pitchFamily="2" charset="0"/>
      <p:regular r:id="rId31"/>
      <p:bold r:id="rId31"/>
      <p:italic r:id="rId35"/>
      <p:boldItalic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868" autoAdjust="0"/>
    <p:restoredTop sz="94634" autoAdjust="0"/>
  </p:normalViewPr>
  <p:slideViewPr>
    <p:cSldViewPr>
      <p:cViewPr varScale="1">
        <p:scale>
          <a:sx n="62" d="100"/>
          <a:sy n="62" d="100"/>
        </p:scale>
        <p:origin x="216" y="3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A2845-04C1-B844-ADAD-D2B7E6B10DA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A7F017-E2A4-1F44-B443-2B0FA90EEF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5976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A7F017-E2A4-1F44-B443-2B0FA90EEF8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40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A7F017-E2A4-1F44-B443-2B0FA90EEF8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74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DA23D-E090-D0E9-C8A5-C4AD1E142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0A00A-5F29-3E26-1E8F-276D8E48B5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D3AE1-C544-FE4C-F43C-8879A3BC9E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593763-2CFF-A774-E4C4-A4783F3A28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A7F017-E2A4-1F44-B443-2B0FA90EEF8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526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AD436-A5EA-93C7-6A2B-5E7563E5D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2C7C-5860-DB36-75C2-B2A630001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554B7C-D205-566F-705D-3B1101D15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CF237-BECC-4009-C54B-219B21977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A7F017-E2A4-1F44-B443-2B0FA90EEF8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9591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AAFB3-1208-CB08-9BE5-B6B364769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5EF280-CC82-C49F-8048-90FEAED25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F88665-A4C2-C01A-1610-238C74FF0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A32ADF-FDAB-B252-3C81-73C3037F6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A7F017-E2A4-1F44-B443-2B0FA90EEF8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9020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486FD-438F-902D-BB2A-39D35B1D9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50C6F-608C-F7C2-1047-0AAC43FDC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2C2443-8225-4C9D-03E3-E1A909A6E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B1DA6-9DFE-2247-3D8E-9547E4769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A7F017-E2A4-1F44-B443-2B0FA90EEF8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30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-9965724" y="-1383136"/>
            <a:ext cx="10994424" cy="10994424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1194AAA3-5CF4-E695-04C9-0894FFF6F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443" y="196689"/>
            <a:ext cx="4752247" cy="136061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B0EB85C-D9CE-08DC-1131-77C9DD1A002D}"/>
              </a:ext>
            </a:extLst>
          </p:cNvPr>
          <p:cNvSpPr txBox="1"/>
          <p:nvPr/>
        </p:nvSpPr>
        <p:spPr>
          <a:xfrm>
            <a:off x="1360002" y="1608482"/>
            <a:ext cx="15925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Vel Tech Rangarajan Dr. Sagunthala R&amp;D Institute of Science and Technology</a:t>
            </a:r>
          </a:p>
          <a:p>
            <a:pPr algn="ctr"/>
            <a:r>
              <a:rPr lang="en-US" sz="3600" b="1" dirty="0">
                <a:latin typeface="Cambria" panose="02040503050406030204" pitchFamily="18" charset="0"/>
                <a:ea typeface="Cambria" panose="02040503050406030204" pitchFamily="18" charset="0"/>
              </a:rPr>
              <a:t>School of Computing 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Department of Computer Science and Engineering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785AF5-58C8-2624-E1FD-4723B0683DE6}"/>
              </a:ext>
            </a:extLst>
          </p:cNvPr>
          <p:cNvSpPr txBox="1"/>
          <p:nvPr/>
        </p:nvSpPr>
        <p:spPr>
          <a:xfrm>
            <a:off x="1692835" y="3272357"/>
            <a:ext cx="152601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33CC"/>
                </a:solidFill>
                <a:latin typeface="Bookman Old Style" panose="02050604050505020204" pitchFamily="18" charset="0"/>
              </a:rPr>
              <a:t>10211CS224 / FULL STACK APPLICATION DEVELOPMENT (JAVA)</a:t>
            </a:r>
            <a:endParaRPr lang="en-IN" sz="2800" b="1" dirty="0">
              <a:solidFill>
                <a:srgbClr val="0033CC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C53BF-3850-6683-E07F-D595EC8B02B2}"/>
              </a:ext>
            </a:extLst>
          </p:cNvPr>
          <p:cNvSpPr txBox="1"/>
          <p:nvPr/>
        </p:nvSpPr>
        <p:spPr>
          <a:xfrm>
            <a:off x="3727757" y="3897940"/>
            <a:ext cx="111902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REVIEW : MILESTONE PROJECT – 2</a:t>
            </a:r>
          </a:p>
          <a:p>
            <a:pPr algn="ctr"/>
            <a:endParaRPr lang="en-IN" sz="3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Date: 20-04-2026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FE0DA2-4723-7C13-5FD7-FC99B0394DDD}"/>
              </a:ext>
            </a:extLst>
          </p:cNvPr>
          <p:cNvSpPr txBox="1"/>
          <p:nvPr/>
        </p:nvSpPr>
        <p:spPr>
          <a:xfrm>
            <a:off x="1501640" y="6057900"/>
            <a:ext cx="15784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JOB PORTAL MANAGEMENT SYSTEM</a:t>
            </a:r>
            <a:endParaRPr lang="en-IN" sz="32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8EEF4A-EB43-B7D9-87FC-7C7D752BCA78}"/>
              </a:ext>
            </a:extLst>
          </p:cNvPr>
          <p:cNvSpPr txBox="1"/>
          <p:nvPr/>
        </p:nvSpPr>
        <p:spPr>
          <a:xfrm>
            <a:off x="893870" y="7810500"/>
            <a:ext cx="9067800" cy="1391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Presented By:</a:t>
            </a:r>
          </a:p>
          <a:p>
            <a:pPr>
              <a:lnSpc>
                <a:spcPct val="150000"/>
              </a:lnSpc>
            </a:pP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C.SURYA SRINIDHI – VTU24957 – 23UECS0691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32D1A-2F9C-AC53-CCBD-ABF748DF236F}"/>
              </a:ext>
            </a:extLst>
          </p:cNvPr>
          <p:cNvSpPr txBox="1"/>
          <p:nvPr/>
        </p:nvSpPr>
        <p:spPr>
          <a:xfrm>
            <a:off x="10945035" y="7818586"/>
            <a:ext cx="6914603" cy="2084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Courses Handling Faculty:</a:t>
            </a:r>
          </a:p>
          <a:p>
            <a:pPr>
              <a:lnSpc>
                <a:spcPct val="150000"/>
              </a:lnSpc>
            </a:pP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Dr. S. Hemamalini – Assistant Professor(Senior Grade)-</a:t>
            </a:r>
            <a:r>
              <a:rPr lang="en-US" sz="3000" dirty="0" err="1">
                <a:latin typeface="Cambria" panose="02040503050406030204" pitchFamily="18" charset="0"/>
                <a:ea typeface="Cambria" panose="02040503050406030204" pitchFamily="18" charset="0"/>
              </a:rPr>
              <a:t>M.E,Ph.D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A51DE-E8D7-A1B4-BC0D-B25C8A0C467A}"/>
              </a:ext>
            </a:extLst>
          </p:cNvPr>
          <p:cNvSpPr txBox="1"/>
          <p:nvPr/>
        </p:nvSpPr>
        <p:spPr>
          <a:xfrm>
            <a:off x="2209800" y="6972300"/>
            <a:ext cx="14743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SDG: 9 – Industry, Innovation and Infrastructure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706082" y="1952203"/>
            <a:ext cx="992463" cy="99246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48235" y="4447339"/>
            <a:ext cx="508158" cy="543805"/>
            <a:chOff x="0" y="0"/>
            <a:chExt cx="812800" cy="86981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48235" y="3107362"/>
            <a:ext cx="508158" cy="543805"/>
            <a:chOff x="0" y="0"/>
            <a:chExt cx="812800" cy="8698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48235" y="5115753"/>
            <a:ext cx="508158" cy="543805"/>
            <a:chOff x="0" y="0"/>
            <a:chExt cx="812800" cy="86981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48235" y="3776486"/>
            <a:ext cx="508158" cy="543805"/>
            <a:chOff x="0" y="0"/>
            <a:chExt cx="812800" cy="86981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8235" y="6455730"/>
            <a:ext cx="508158" cy="543805"/>
            <a:chOff x="0" y="0"/>
            <a:chExt cx="812800" cy="86981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8235" y="5784877"/>
            <a:ext cx="508158" cy="543805"/>
            <a:chOff x="0" y="0"/>
            <a:chExt cx="812800" cy="86981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8235" y="7123361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48235" y="7790991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E796552-E8BF-2718-F921-20F9BAE7EE98}"/>
              </a:ext>
            </a:extLst>
          </p:cNvPr>
          <p:cNvSpPr txBox="1"/>
          <p:nvPr/>
        </p:nvSpPr>
        <p:spPr>
          <a:xfrm>
            <a:off x="152400" y="350103"/>
            <a:ext cx="1813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7E9E58-77B6-079D-9D0D-E380CADAD23D}"/>
              </a:ext>
            </a:extLst>
          </p:cNvPr>
          <p:cNvSpPr txBox="1"/>
          <p:nvPr/>
        </p:nvSpPr>
        <p:spPr>
          <a:xfrm>
            <a:off x="2138875" y="1975464"/>
            <a:ext cx="15082325" cy="12649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r>
              <a:rPr lang="en-US" dirty="0"/>
              <a:t>•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Job Portal Management System is a web-based application designed to connect job seekers and employers on a single platform.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provides an easy-to-use interface where users can search, view, and apply for jobs online from anywhere.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Employers can post job vacancies with details such as skills, experience, and salary, and manage applicants efficiently.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helps students and job seekers create professional profiles and upload their resumes for better visibility.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reduces the manual effort involved in traditional job searching and recruitment processes.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Users can filter and search jobs based on category, location, skills, and experience level.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maintains application status and provides real-time notifications to users.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enhances communication between job seekers and employers through automated updates and alerts.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ensures secure login with role-based access control (Student, Employer, Admin).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Overall, it simplifies, organizes, and digitalizes the recruitment process for better efficiency.</a:t>
            </a:r>
          </a:p>
          <a:p>
            <a:pPr marL="457200" indent="-457200">
              <a:buFontTx/>
              <a:buChar char="-"/>
            </a:pP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C6B3991-F175-960C-03ED-447F68E52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3289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709357" y="2648112"/>
            <a:ext cx="992463" cy="992463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376253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8A7B8E9-D90B-1CF8-14D3-8D2483CAFC58}"/>
              </a:ext>
            </a:extLst>
          </p:cNvPr>
          <p:cNvSpPr txBox="1"/>
          <p:nvPr/>
        </p:nvSpPr>
        <p:spPr>
          <a:xfrm>
            <a:off x="0" y="315938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E2941C-1504-53F9-99B2-48002CA9A345}"/>
              </a:ext>
            </a:extLst>
          </p:cNvPr>
          <p:cNvSpPr txBox="1"/>
          <p:nvPr/>
        </p:nvSpPr>
        <p:spPr>
          <a:xfrm>
            <a:off x="2176975" y="2088140"/>
            <a:ext cx="15082325" cy="11726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Job recruitment processes are often manual, unorganized, and time-consuming, leading to delays in hiring.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Job seekers need to visit multiple platforms and websites to find suitable job opportunities, which is inefficient.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There is no proper system available to track job applications and monitor their current status.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Employers struggle to manage and organize large numbers of applicants effectively.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Lack of a centralized database leads to data mismanagement and difficulty in accessing information.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is difficult to filter candidates based on required skills, qualifications, and experience.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There is no proper communication system between job seekers and employers for updates and notifications.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There is a high risk of duplicate applications or missing application records in manual systems.</a:t>
            </a:r>
          </a:p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09357" y="3315742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5B915D36-EE4F-CB45-6DD3-E1B9C803EB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OBJECTIVE(S)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Freeform 10">
            <a:extLst>
              <a:ext uri="{FF2B5EF4-FFF2-40B4-BE49-F238E27FC236}">
                <a16:creationId xmlns:a16="http://schemas.microsoft.com/office/drawing/2014/main" id="{CC7EEF9B-9155-23B5-AEE9-85067B6C258B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A0A3A-1541-5EC0-5370-02DA282ABDDE}"/>
              </a:ext>
            </a:extLst>
          </p:cNvPr>
          <p:cNvSpPr txBox="1"/>
          <p:nvPr/>
        </p:nvSpPr>
        <p:spPr>
          <a:xfrm>
            <a:off x="2149761" y="1922255"/>
            <a:ext cx="15082325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To develop a web-based Job Portal Management System that connects job seekers and employers on a single platform.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To simplify and automate the recruitment process with features like job posting, job search, application tracking, and secure access.</a:t>
            </a:r>
          </a:p>
          <a:p>
            <a:pPr marL="457200" indent="-457200">
              <a:buFontTx/>
              <a:buChar char="-"/>
            </a:pP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709357" y="3983373"/>
            <a:ext cx="992463" cy="992463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3315742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5" name="Freeform 10">
            <a:extLst>
              <a:ext uri="{FF2B5EF4-FFF2-40B4-BE49-F238E27FC236}">
                <a16:creationId xmlns:a16="http://schemas.microsoft.com/office/drawing/2014/main" id="{D5D1FD99-C9A7-927E-AD67-E70F11DBAAA2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218D14-8F44-8040-8BFD-49A59591F527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F19716-1653-9AE0-442E-B3829A585B46}"/>
              </a:ext>
            </a:extLst>
          </p:cNvPr>
          <p:cNvSpPr txBox="1"/>
          <p:nvPr/>
        </p:nvSpPr>
        <p:spPr>
          <a:xfrm>
            <a:off x="1794863" y="2309629"/>
            <a:ext cx="15082325" cy="9417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is a web-based Job Portal Management System.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allows users to register and log in securely.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Job seekers can create profiles and upload resumes.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Users can search and filter jobs based on skills and location.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Job seekers can apply for jobs and track their application status.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Employers can post, edit, and delete job vacancies.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Employers can view applicants and shortlist or reject candidates.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stores all data in a centralized database and provides real-time updates.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1" name="Freeform 10">
            <a:extLst>
              <a:ext uri="{FF2B5EF4-FFF2-40B4-BE49-F238E27FC236}">
                <a16:creationId xmlns:a16="http://schemas.microsoft.com/office/drawing/2014/main" id="{01BC0C31-7FCD-94EE-8B85-19FBC227565C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B3B85F-0C7B-16B9-6D50-94A4DFD2D192}"/>
              </a:ext>
            </a:extLst>
          </p:cNvPr>
          <p:cNvSpPr txBox="1"/>
          <p:nvPr/>
        </p:nvSpPr>
        <p:spPr>
          <a:xfrm>
            <a:off x="152400" y="350103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ARCHITECTURE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F9D4B0-38FE-DBA4-164D-1745B68379A5}"/>
              </a:ext>
            </a:extLst>
          </p:cNvPr>
          <p:cNvSpPr txBox="1"/>
          <p:nvPr/>
        </p:nvSpPr>
        <p:spPr>
          <a:xfrm>
            <a:off x="2176975" y="1181100"/>
            <a:ext cx="15082325" cy="108645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AutoShape 2" descr="Generated image">
            <a:extLst>
              <a:ext uri="{FF2B5EF4-FFF2-40B4-BE49-F238E27FC236}">
                <a16:creationId xmlns:a16="http://schemas.microsoft.com/office/drawing/2014/main" id="{16E457E7-6CC0-C725-E8E8-35EC0C0A07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41C82A-3AE1-8214-C930-CFAEBF0C7E4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76" b="411"/>
          <a:stretch>
            <a:fillRect/>
          </a:stretch>
        </p:blipFill>
        <p:spPr>
          <a:xfrm>
            <a:off x="2326085" y="1562100"/>
            <a:ext cx="11055989" cy="792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120BBE-D4AE-FD0D-8513-0C9EDAABA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65FCDA2F-6EEE-F6C2-CC63-A61A668A669C}"/>
              </a:ext>
            </a:extLst>
          </p:cNvPr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E537568-0DDA-9F70-0404-7CD901B358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B76EED94-8DC2-AB57-EB1F-C89546181F9D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0C8074C1-B01B-C07A-6EDA-30BB005A0293}"/>
              </a:ext>
            </a:extLst>
          </p:cNvPr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B0FA6438-64BE-5725-3513-D92D4BE594E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66AA46D-E494-5E76-556E-6E1A9BF4260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7723B3F-5335-E2DB-02F8-B61BB91E1DD1}"/>
              </a:ext>
            </a:extLst>
          </p:cNvPr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08A211E7-0426-BCA1-2C39-2EDEAA3D7C1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93DFE801-E11C-63ED-631A-B9E88C2D06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FE7E3F35-5FF5-36D3-A89C-173EDBDDB762}"/>
              </a:ext>
            </a:extLst>
          </p:cNvPr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AA02A412-39D3-47B6-721F-2CFED26C2FE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A9A639-BB68-1857-4DE9-200267BFBA2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8B0D992F-4FCD-83E3-FD6E-4F4B74D953E0}"/>
              </a:ext>
            </a:extLst>
          </p:cNvPr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F31A660E-B956-686A-D943-A35AE5624B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C8A63C00-B485-59B8-F20A-B2526C63CCD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6F6B78CA-3BE9-CC9C-BFAD-162A3AFFFEA1}"/>
              </a:ext>
            </a:extLst>
          </p:cNvPr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3D39F65A-B918-B747-C6C6-49970F4FEC7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70ADF056-4B48-2785-B93A-57BB5583CCF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7830DC6-27C1-0B67-328D-0FA1E0D66515}"/>
              </a:ext>
            </a:extLst>
          </p:cNvPr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9FCF4ED1-C99E-F706-FA0F-608803A2C24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C63080DD-71BF-762C-8640-A9ECFBE696E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B3D72F49-9BD5-3691-737C-DD82CFD704A5}"/>
              </a:ext>
            </a:extLst>
          </p:cNvPr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77B05D06-A5BA-F7A2-DD00-8A9D63A1F2E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6A2CF642-5BEF-199C-3B9F-A278F229739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0DC34337-8CBA-46A1-5D63-DE1711C089EE}"/>
              </a:ext>
            </a:extLst>
          </p:cNvPr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00E01612-CF4E-2538-55E7-C121C491F69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C09B5C74-96D4-DC02-41A0-2C5C141D990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A8C66314-1914-D8A0-5244-F8A119793BF2}"/>
              </a:ext>
            </a:extLst>
          </p:cNvPr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362D80A8-2C6F-0D13-9E38-3B1DF357378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437FC99C-9411-FE63-E1EE-FC6A7788748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1" name="Freeform 10">
            <a:extLst>
              <a:ext uri="{FF2B5EF4-FFF2-40B4-BE49-F238E27FC236}">
                <a16:creationId xmlns:a16="http://schemas.microsoft.com/office/drawing/2014/main" id="{5974823D-264D-3302-0919-90A92F55C1E2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B77069B-D36B-A183-A0E7-5BC3AB846622}"/>
              </a:ext>
            </a:extLst>
          </p:cNvPr>
          <p:cNvSpPr txBox="1"/>
          <p:nvPr/>
        </p:nvSpPr>
        <p:spPr>
          <a:xfrm>
            <a:off x="152400" y="350103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ARCHITECTURE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A127B1-4DC4-DAFB-AF0D-38FE009AEA5E}"/>
              </a:ext>
            </a:extLst>
          </p:cNvPr>
          <p:cNvSpPr txBox="1"/>
          <p:nvPr/>
        </p:nvSpPr>
        <p:spPr>
          <a:xfrm>
            <a:off x="2176975" y="1181100"/>
            <a:ext cx="15082325" cy="938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Input: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User registration details, login credentials, job postings, resume uploads, and job applications.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Processing: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User authentication, job search and filtering, application submission, validation, and status tracking.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Stores user details, employer details, job listings, applications, and resume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Job listings, application status updates, notifications, user dashboard, and employer reports.</a:t>
            </a:r>
          </a:p>
          <a:p>
            <a:pPr marL="457200" indent="-457200">
              <a:buFontTx/>
              <a:buChar char="-"/>
            </a:pP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AutoShape 2" descr="Generated image">
            <a:extLst>
              <a:ext uri="{FF2B5EF4-FFF2-40B4-BE49-F238E27FC236}">
                <a16:creationId xmlns:a16="http://schemas.microsoft.com/office/drawing/2014/main" id="{BEB47EAC-0F91-AE02-4A84-64D6ECC5FF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335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735588" y="5318634"/>
            <a:ext cx="992463" cy="992463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77741" y="6425585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id="{3663A130-069F-2D83-78E7-4DA0FE7AAC6E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B156733-A733-69AA-7523-59650E125994}"/>
              </a:ext>
            </a:extLst>
          </p:cNvPr>
          <p:cNvSpPr txBox="1"/>
          <p:nvPr/>
        </p:nvSpPr>
        <p:spPr>
          <a:xfrm>
            <a:off x="190500" y="315938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4F3B99-A5D2-54DC-51CD-4E86A99D3EA2}"/>
              </a:ext>
            </a:extLst>
          </p:cNvPr>
          <p:cNvSpPr txBox="1"/>
          <p:nvPr/>
        </p:nvSpPr>
        <p:spPr>
          <a:xfrm>
            <a:off x="2209800" y="1638300"/>
            <a:ext cx="150823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B70045-5DFF-1322-8555-9B98CA358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056" t="-13516" r="3056" b="12884"/>
          <a:stretch>
            <a:fillRect/>
          </a:stretch>
        </p:blipFill>
        <p:spPr>
          <a:xfrm>
            <a:off x="4866851" y="361348"/>
            <a:ext cx="8536914" cy="9784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DA52E6-67D7-CBA5-9852-9A626CF67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>
            <a:extLst>
              <a:ext uri="{FF2B5EF4-FFF2-40B4-BE49-F238E27FC236}">
                <a16:creationId xmlns:a16="http://schemas.microsoft.com/office/drawing/2014/main" id="{A35BBEBD-EEF3-D222-9C5B-A0122EBF2D1C}"/>
              </a:ext>
            </a:extLst>
          </p:cNvPr>
          <p:cNvGrpSpPr/>
          <p:nvPr/>
        </p:nvGrpSpPr>
        <p:grpSpPr>
          <a:xfrm>
            <a:off x="735588" y="5318634"/>
            <a:ext cx="992463" cy="992463"/>
            <a:chOff x="0" y="0"/>
            <a:chExt cx="812800" cy="8128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66A3CD24-47C4-EEDC-3A00-DBE73E66309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32D67E4C-93D6-6B64-D55B-9781C9FF9AF8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79FDE276-2004-216C-C85B-5BF21C30560A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5BCFD462-4C14-722A-497F-6876165EA84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D7BE9AF3-7B1B-B6E7-353C-D3FE7F91F3C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C122D317-DAC6-D1DB-4800-F433B53E00D9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F4E8CEDD-0D89-D888-E11C-9B7B76F6075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88ED2D3D-1D56-458C-B8E2-EFA15D23E0B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02DC7476-33C7-7A11-EB03-E4DAD3BB1AAB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1E155FC-BCB0-910B-6016-6457D0551B5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3B7DFE36-5CC6-04FD-D686-CD6286E86CC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56810BD2-2974-2B20-A6A6-EA158E567BD8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76987891-2382-06FA-FAFB-29114C8CF7C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702A6400-D76C-9A7B-4A81-21A1AD962BB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0C63C851-1DB8-2740-6101-9D486275B3AD}"/>
              </a:ext>
            </a:extLst>
          </p:cNvPr>
          <p:cNvGrpSpPr/>
          <p:nvPr/>
        </p:nvGrpSpPr>
        <p:grpSpPr>
          <a:xfrm>
            <a:off x="977741" y="6425585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B4490585-285A-B8AB-20D5-787F2449B80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5481E520-45A9-31D0-9F8E-6484928C31D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2" name="Group 32">
            <a:extLst>
              <a:ext uri="{FF2B5EF4-FFF2-40B4-BE49-F238E27FC236}">
                <a16:creationId xmlns:a16="http://schemas.microsoft.com/office/drawing/2014/main" id="{5EAF9984-0C9C-8AE4-C470-116CAF9FBFFC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C4F6B284-ECAE-3209-DCF9-6DE9F339039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4" name="TextBox 34">
              <a:extLst>
                <a:ext uri="{FF2B5EF4-FFF2-40B4-BE49-F238E27FC236}">
                  <a16:creationId xmlns:a16="http://schemas.microsoft.com/office/drawing/2014/main" id="{E92232BC-A6A5-3E7D-63AA-94B3E6FBFC0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C73B9DAF-DE61-3D84-D7B1-DC93D0BEA1FF}"/>
              </a:ext>
            </a:extLst>
          </p:cNvPr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B69E09D5-7007-43D6-E903-3B20B1404AB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3B27F86B-E5E4-5EBA-FB95-FA90B4EF6B7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0" name="Group 40">
            <a:extLst>
              <a:ext uri="{FF2B5EF4-FFF2-40B4-BE49-F238E27FC236}">
                <a16:creationId xmlns:a16="http://schemas.microsoft.com/office/drawing/2014/main" id="{D39AF930-3517-BC9A-3668-1571D250F1D6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BC0C2483-FD09-1D7E-95EC-1201E45DF93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C717FC37-42C5-4DDE-C51D-1D2217C9832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id="{2F7B3235-9D23-69BF-E5B3-530D09DD5777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CDB46E-05CB-297B-2F42-08016C338E45}"/>
              </a:ext>
            </a:extLst>
          </p:cNvPr>
          <p:cNvSpPr txBox="1"/>
          <p:nvPr/>
        </p:nvSpPr>
        <p:spPr>
          <a:xfrm>
            <a:off x="190500" y="315938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TECHNLOGIES USED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F740-5424-84E3-3E03-6B6AA4590FDF}"/>
              </a:ext>
            </a:extLst>
          </p:cNvPr>
          <p:cNvSpPr txBox="1"/>
          <p:nvPr/>
        </p:nvSpPr>
        <p:spPr>
          <a:xfrm>
            <a:off x="2514600" y="2015466"/>
            <a:ext cx="12877800" cy="683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 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HTML, CSS, </a:t>
            </a:r>
            <a:r>
              <a:rPr lang="en-US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Thymeleaf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 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Java, Spring Boot, Spring MVC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MySQL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Tools: 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Visual Studio Code, MySQL Workbench, Spring Initializer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Hardware/Software Requirements: 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System with minimum 4GB RAM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JDK 8 or above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Spring Boot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MySQL Server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- Web Browser (Chrome)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6564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A1BCE7C-890E-A01E-691E-1D3D07CF6333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04C197-EAC7-7A26-FAED-ED7302DBEC6E}"/>
              </a:ext>
            </a:extLst>
          </p:cNvPr>
          <p:cNvSpPr txBox="1"/>
          <p:nvPr/>
        </p:nvSpPr>
        <p:spPr>
          <a:xfrm>
            <a:off x="2227934" y="1771084"/>
            <a:ext cx="15082325" cy="86485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2800" b="1" dirty="0"/>
          </a:p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1: Job Seeker (User) Module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user registration, login, profile creation, resume upload, job search, and applying for jobs.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2: Employer Module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Allows employer login, posting job vacancies, managing job listings, and viewing applicants.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Module 3: Job Management Module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Manages job details, job updates, filtering, searching, and deletion of job postings.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4: Application Management Module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job applications, application tracking, status updates, and shortlist/reject process.</a:t>
            </a:r>
          </a:p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5: Notification Module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Generates email notifications and alerts for job applications, status updates, and job postings.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FBA1B-7EE7-47B6-41F3-C4B61A9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D8CD5C70-566B-9213-9F31-546BB621CCAF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EBAE7EB-82E8-3AF5-3C43-EA7688F732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5294143A-C171-B89D-02DF-136CB32B43C9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811A371D-2A07-AABC-E66C-143D37E0F12C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F7BDC7D-6911-7D85-E73A-2061DE32440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6DEA2241-E6A3-8051-F424-21070A5DF29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4DD3D6A9-1C97-9943-C984-B50356BAE3FF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BB1489C-F4F8-D62E-3AD9-3CAA028A426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4A64A6E-EA7C-DFF0-C280-5041CD8B135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E5FF856-5043-C428-B45A-4C00BF9D3418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CFC7AF72-B76A-8AD8-7E70-BDE8837D662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F6C277EF-EDEF-0F79-B4B2-AB1B3E58301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A32CD2C6-1D06-729E-1157-B2EAAEA172A4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222D7EA-F7CE-B4F5-4D06-02860C5AC3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7F695A3-7B3D-00FE-26D6-E53B473BCF1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A8D3527-DD17-232E-3ECB-BDBFC0FF3DE7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1C3EBC87-5F86-657B-5C0D-7DFFB3C4281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5638183B-03CC-91E5-1C67-EAD126FB6DA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8C4C8B82-0B52-9912-DBAF-71546B2F401E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71F41C0-C399-6E94-B393-623F6ED78C3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5375A05-CD15-FECF-CF37-72BD8B495C3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FFA9D0CA-D989-1DF0-9CD9-7BB1BF37D00D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6D72D40E-C3C8-1774-56F7-396EA1F5463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2A94558C-EEEF-6159-C648-7ED1F2545B1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8A0868D-7450-B2DC-5A6A-A607E39122E3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27C0AD0-E7DC-50B1-90B8-A6B2DA72DDA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9B60539C-7696-ACA6-9070-BC481578187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90A2A8C1-A254-99B6-B7B0-C5A8A5BB008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B814A5FC-F17C-8D1A-04C8-1ED6A2AE0E6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2EC11913-1FC3-79C0-FB94-72486D9673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6CB89B22-25E1-321C-5A74-15CF8EBC7CA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35C6402D-9C63-51C1-99A9-4206C05377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275A1-13FA-B24A-438D-77EB2A87B09F}"/>
              </a:ext>
            </a:extLst>
          </p:cNvPr>
          <p:cNvSpPr txBox="1"/>
          <p:nvPr/>
        </p:nvSpPr>
        <p:spPr>
          <a:xfrm>
            <a:off x="7696200" y="1372210"/>
            <a:ext cx="4757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HOME PAGE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2273DB9-980A-930B-88E3-4691FC8BA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52574" y="2168468"/>
            <a:ext cx="8819410" cy="528124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1F7B352-25F0-36AE-794E-B41AB4C5DCC8}"/>
              </a:ext>
            </a:extLst>
          </p:cNvPr>
          <p:cNvSpPr txBox="1"/>
          <p:nvPr/>
        </p:nvSpPr>
        <p:spPr>
          <a:xfrm>
            <a:off x="1905001" y="7930502"/>
            <a:ext cx="15697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This is the main entry page of the Job Portal where users can navigate to login or sign up.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provides an overview of the platform and allows users to explore job opportunities or get started.</a:t>
            </a:r>
          </a:p>
        </p:txBody>
      </p:sp>
    </p:spTree>
    <p:extLst>
      <p:ext uri="{BB962C8B-B14F-4D97-AF65-F5344CB8AC3E}">
        <p14:creationId xmlns:p14="http://schemas.microsoft.com/office/powerpoint/2010/main" val="1998101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CF319D-58F2-DF9E-632A-90472F5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ADE101F0-A2BF-16E8-7BEC-541911EA9510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43B1E5B-104E-DCD5-F042-8DABFE8225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46A8601-B4CB-7C78-2833-947EEC356CD7}"/>
                </a:ext>
              </a:extLst>
            </p:cNvPr>
            <p:cNvSpPr txBox="1"/>
            <p:nvPr/>
          </p:nvSpPr>
          <p:spPr>
            <a:xfrm>
              <a:off x="76200" y="19050"/>
              <a:ext cx="7366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8(A)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1C63788E-DB35-987D-1A89-4C3F169DF70E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76646B6-C6D6-F677-3CA9-56BE5CE444A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3CDDAA79-D530-F622-0CC8-ECE3E95F952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8227745F-FD1B-7135-E88E-D6B924C5CB24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79292FA3-A80E-1540-0024-754AADCDB01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5A8C7117-591A-F089-5F54-0229077FDEA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29278237-7990-A997-2285-EB2F5BB4EF44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F37C1434-DB0E-53EF-4140-56A0F3CD6EA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4FC388C1-59EC-CA17-BA41-9AF3AAD42D8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90F65A21-E49B-9858-6EAD-EBC3142E623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EFDE14F0-9F59-E35F-B5B7-45C77C56354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E1181869-B448-2B7A-67F5-160B09C76D9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B27AB66-420C-E7D0-5891-910B564CA2C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0605CE2-624E-D2DA-6357-65C5FA138C6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DA9B1286-A8A4-091B-5AF9-F0B275F703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127DF020-AEA7-8D57-9411-90D58D65D05B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00BA2729-D580-CF8D-87CD-EE786F2E40E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F0B6F8BA-7047-AE2A-DB03-E6846F9FAEA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5DE7324-71F9-1D79-AB1E-F97481653389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E780ED4E-44DF-E344-CCEA-834D1374F6A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AC7D9CD8-E54E-AD67-D59B-5D4A37A1B41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3560347-DE50-10F7-9905-7228E593D28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1B9E463A-B010-8D72-6350-7242CB0AAF5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C15BE220-858E-1446-5B56-D3329A06A99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98F156A3-70B1-1344-389E-4B3C64CA921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A36A5C58-00A3-2FE9-36E4-D92AAF44A0F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BADF0EED-F663-F70E-9BB3-C0F576114D0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54542349-F329-7DA6-DBD4-7EFA939B989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6CAD810-8433-9B89-E144-29986E25063F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4B656C-F43C-A151-4566-7E0B3BBECF45}"/>
              </a:ext>
            </a:extLst>
          </p:cNvPr>
          <p:cNvSpPr txBox="1"/>
          <p:nvPr/>
        </p:nvSpPr>
        <p:spPr>
          <a:xfrm>
            <a:off x="6356023" y="1369134"/>
            <a:ext cx="477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312C52-4DEE-9A4A-FFD6-5E023D9EFC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2" b="8182"/>
          <a:stretch/>
        </p:blipFill>
        <p:spPr>
          <a:xfrm>
            <a:off x="3962400" y="2323000"/>
            <a:ext cx="7848600" cy="42070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0A1E25-03A2-030F-B662-D986C4F0FAEF}"/>
              </a:ext>
            </a:extLst>
          </p:cNvPr>
          <p:cNvSpPr txBox="1"/>
          <p:nvPr/>
        </p:nvSpPr>
        <p:spPr>
          <a:xfrm>
            <a:off x="3831455" y="6897565"/>
            <a:ext cx="137209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page allows users or employer to create a new account by entering details like name, email, and password.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ensures secure user or employer registration and provides access to the job portal features after successful signup.</a:t>
            </a:r>
          </a:p>
        </p:txBody>
      </p:sp>
    </p:spTree>
    <p:extLst>
      <p:ext uri="{BB962C8B-B14F-4D97-AF65-F5344CB8AC3E}">
        <p14:creationId xmlns:p14="http://schemas.microsoft.com/office/powerpoint/2010/main" val="398118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4F051-5473-4E78-FEB2-59A87A5F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66BE183E-F015-FFD4-5C84-C25B4DCE490A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AEC1772-D597-ACC7-7EF1-FF0460F37AA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46839344-8B05-5C56-F0B1-64E24F458991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8(B)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23B54700-9ABF-8EDD-8B21-24A9248C534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99246F8-F6B5-2F2E-2FB4-FAE1DD41DCC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B7CDDD7B-8A9B-223F-951A-473D0C9404F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B3E1A8FC-D0F1-BD05-9C14-C10EAE95E57E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EB5FB4E-3BF3-BC6A-6692-FE375141E4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38F8F103-F0A5-8F95-A139-8DBEBEF19C2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C558648-2D59-16EB-3098-EAF5DE978B1F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168779D-5467-4E78-AD1E-36B5A75A347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8AFC0BB4-20A4-849D-A1E4-FA90A8DDCC7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700D33AC-D53D-0E96-8752-E5DA06AE57A5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14DABAFB-38B3-CE49-B21D-A496D7EC2A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BE27A610-3BC0-BFBC-2A61-4C157B024EF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6C0E28B4-531C-D2E1-F3C9-B5A98A28B69D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C193347-3923-7F1F-A580-A7462B158EC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C5DDC20D-7BD0-E255-26F1-86A88AF67CF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9DBB21A1-CAFF-686E-D181-980219283F7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5531A9C5-B561-53EA-BF9A-3BE6A607C1B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D8870C21-3327-4D63-FD34-36BC479967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4D7C3EBE-FA20-7E4C-13DD-84F1A98618F6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C1E3AE62-1B2B-FE1E-010C-A26C4F613A6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CDA04BD5-C99C-980C-6593-EDEA378D6C3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77207A6-9552-432B-0793-EB6A88EE3C1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7447A1E-BA0C-26C0-C743-E590A55A653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8D425BCC-6A0F-30CB-18E7-D1E21E871D9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35F87FC1-4854-F9D4-8104-40945AD6A772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C7CF20EF-980A-2D88-E968-DCB5B8BC6CF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A7A686B7-4E4C-A5FA-60CD-A6EFF9DEAD8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3ECD8D52-6368-578C-BEB2-0B1BA37FD45D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38323CF-7DCB-075F-B739-0F88472F060D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F4BEB7-42CD-115A-E499-D08EC2B51735}"/>
              </a:ext>
            </a:extLst>
          </p:cNvPr>
          <p:cNvSpPr txBox="1"/>
          <p:nvPr/>
        </p:nvSpPr>
        <p:spPr>
          <a:xfrm>
            <a:off x="7606006" y="1214838"/>
            <a:ext cx="2899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C5D015-19B0-770D-AE5F-B3DB26D618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1111" y="2205327"/>
            <a:ext cx="4749239" cy="46437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D8491B-92E9-5A7F-1666-190C36EBD9A8}"/>
              </a:ext>
            </a:extLst>
          </p:cNvPr>
          <p:cNvSpPr txBox="1"/>
          <p:nvPr/>
        </p:nvSpPr>
        <p:spPr>
          <a:xfrm>
            <a:off x="3197778" y="7227433"/>
            <a:ext cx="142615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page allows registered users or employers to log in using their email and password.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provides secure access to the system and redirects users to their respective dashboards after successful login.</a:t>
            </a:r>
          </a:p>
        </p:txBody>
      </p:sp>
    </p:spTree>
    <p:extLst>
      <p:ext uri="{BB962C8B-B14F-4D97-AF65-F5344CB8AC3E}">
        <p14:creationId xmlns:p14="http://schemas.microsoft.com/office/powerpoint/2010/main" val="47544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52AA6E-1A8C-A42D-344E-C811AB58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EB7F1E1F-336A-607D-2868-6C57FF54EB44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3528BA9-EE0E-A6F8-4A8C-6DFC964B206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E25C449-B344-E643-12F7-C89DEE4255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4C22D2BC-F5CA-423B-6FD6-94172693045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6670B32-1168-757A-3D40-FDD55687DCF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0D3BB7FD-57C6-C09A-D875-135D505A8E1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67A86AC-A2D1-3F33-5857-9F69983F71BB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9EADC3C-D136-0700-9300-4D8E867EC53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8EAD5F3-3FC4-819A-6ECD-0BC55C92A2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1671F77B-B3A5-F8B6-AC67-6EF88CA95877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1303025A-EF3E-710E-2DBD-D89F29B8499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76E7D281-CC96-92C2-C2F7-583674F0609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E0D02FED-C5F4-9CC7-F1F5-E75E542840A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384D1E33-434F-2FA0-56CC-F24058D8639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F2FC0DCA-FB2A-610C-A8DB-76CE251A57D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4CA1DB61-05A2-042F-9815-00DBC40D0556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7E4E958-360B-28EF-052B-EDDBDD5F40F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EDBF5CC-2720-E821-001C-11BCB7273E2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6B96629A-6996-B0D7-13D6-0FA011422666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912F1ED8-E3AD-E90A-10CE-D50A8F7D91A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0E45F23-6E8F-F601-2EB3-537A898E704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A40D6715-3580-0B1B-2305-C7ED6083AE85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11A59530-4B7F-6C6B-290E-578EA30200D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9BDCE736-251A-5B70-853E-A0A9A174F36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8249BDCF-E07B-269B-D039-A4360C0FE2B4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6F6B04FD-3FAC-90A2-4C1A-D809D058C0A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BEE5C092-697C-26F6-D6E0-477F151E7CA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FF80FEAE-01A3-1956-FB30-BED14CA86273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2E8D2AB5-8B00-D9B4-469D-07CAE4ECF9C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F9F17E25-114F-438B-701A-7788D333F33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1C4B6667-B2EE-BA32-402F-04368D88D5C4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B953180-DB27-F046-86E3-E3508247B406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EA5319-0B33-07AE-8C86-82D029FBFC53}"/>
              </a:ext>
            </a:extLst>
          </p:cNvPr>
          <p:cNvSpPr txBox="1"/>
          <p:nvPr/>
        </p:nvSpPr>
        <p:spPr>
          <a:xfrm>
            <a:off x="5614848" y="1275323"/>
            <a:ext cx="6951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EMPLOYER JOB POSTING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817BFA-58C8-D8CB-9C00-89A8F804DC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8822" y="2501927"/>
            <a:ext cx="7243365" cy="43643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F26A9F-DD99-C913-ADE0-2182717D1411}"/>
              </a:ext>
            </a:extLst>
          </p:cNvPr>
          <p:cNvSpPr txBox="1"/>
          <p:nvPr/>
        </p:nvSpPr>
        <p:spPr>
          <a:xfrm>
            <a:off x="3225211" y="7246464"/>
            <a:ext cx="139454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page allows employers to create and post new job vacancies by entering details like title, description, skills, and salary.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helps employers manage job listings and attract suitable candidates for recruitment.</a:t>
            </a:r>
          </a:p>
        </p:txBody>
      </p:sp>
    </p:spTree>
    <p:extLst>
      <p:ext uri="{BB962C8B-B14F-4D97-AF65-F5344CB8AC3E}">
        <p14:creationId xmlns:p14="http://schemas.microsoft.com/office/powerpoint/2010/main" val="84889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B2C194-8054-109A-8EE3-412E3D9CE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B62333FF-55BC-62B6-6371-72B5C2F6877E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B43F7D-E99A-3082-52B3-13374FCCFB7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55755CCA-C0C8-F17B-1E8A-5783EE770ECE}"/>
                </a:ext>
              </a:extLst>
            </p:cNvPr>
            <p:cNvSpPr txBox="1"/>
            <p:nvPr/>
          </p:nvSpPr>
          <p:spPr>
            <a:xfrm>
              <a:off x="76200" y="19050"/>
              <a:ext cx="7366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8(D)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ADC2F419-E154-8127-7A7E-D8125C33557F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6DFFE20-D36C-2238-3895-F042C5F122E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838C3A07-5BCD-6F99-A8C2-0535B5F0FE9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163CF137-14A1-3B14-93D5-D3880857F651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E25856C5-81A8-B2B7-FDD4-B9AD83C5683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B44EBA42-79B6-A479-9F7B-F8268D5AEBF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10DCCF08-90C9-C9DB-A6F4-7236C9C408E4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5AE877C9-EA89-BF91-9743-BF6642CABF5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B78E3713-142F-9F58-D2E8-7BFCA6BAF2E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12060018-1208-5D33-0A79-10CEE5A7CE57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5F84339-96B0-C013-5C8D-0FBD8E81DB3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3B13E3A3-ED77-5B21-0638-992D305083C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B165E30-3AFD-0F72-1794-505AD16C208D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05558CF-9250-2654-1B48-F50107DB4F5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9C85B1B0-E1B8-397A-3581-77F3E7E2F84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02AE1FF7-1D7B-7255-81F8-5827F54C5731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37DF40B-8FED-0A39-D2E5-C17EEE20EA2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D5601843-65BA-09E6-9884-DB02F3560BF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5BCB3D17-FBDC-1F95-4331-222DFD2BB0D2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28CDA1DE-7D96-1352-7D39-D7207F22D73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A3A5E5D0-9CCB-9151-1B11-49167FE6F8C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5317B326-9BC1-726E-5C29-A3937A78B232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1A093933-F9C6-8CFE-89C6-2F132C2AD13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32454929-C98E-8F6B-53E8-795B90F7CA5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1321759C-578E-151E-07C6-0A45C6753C16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B34CAF82-1CBC-9427-F2F5-FA4A73C1917A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D98207C4-46BD-F847-1658-184D5CB92FB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44520F27-A14A-916A-2BA9-6838A510E8E7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7E8411FA-55B3-6055-3033-48846ECD780D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0EFEE5-5A76-C4A5-88EE-82AE35D957E4}"/>
              </a:ext>
            </a:extLst>
          </p:cNvPr>
          <p:cNvSpPr txBox="1"/>
          <p:nvPr/>
        </p:nvSpPr>
        <p:spPr>
          <a:xfrm>
            <a:off x="6589165" y="1226631"/>
            <a:ext cx="4451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LISTINGS PAGE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019429B-C5A2-E849-B466-EAC818D33E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78500" y="2224949"/>
            <a:ext cx="7425799" cy="445220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06DE623-B9AD-E349-982B-7D6CAA8EC0CF}"/>
              </a:ext>
            </a:extLst>
          </p:cNvPr>
          <p:cNvSpPr txBox="1"/>
          <p:nvPr/>
        </p:nvSpPr>
        <p:spPr>
          <a:xfrm>
            <a:off x="3304081" y="7055740"/>
            <a:ext cx="139552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page displays available job opportunities with details like job title, company, skills, and salary.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allows users to search jobs and view detailed information before applying.</a:t>
            </a:r>
          </a:p>
        </p:txBody>
      </p:sp>
    </p:spTree>
    <p:extLst>
      <p:ext uri="{BB962C8B-B14F-4D97-AF65-F5344CB8AC3E}">
        <p14:creationId xmlns:p14="http://schemas.microsoft.com/office/powerpoint/2010/main" val="2843186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4187AC-E56D-5248-F9F8-F5819C57E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D4698480-3D06-6C58-CC82-514734E15838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78F37E3-9B93-AE02-B772-F48C6293BDA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1747B5E-A627-0449-CE02-72B6098B13C3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8(E)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A64CB8F7-3AF6-1108-C2B9-D0A36C8001F3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2139128-5DB5-9091-1EAD-1C4F6BE05D5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F30CBD1B-53B1-4636-FD1D-91577A0C8DB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410E973D-0968-4727-AB5B-25210BD28300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E544A67-1499-6935-078D-E0C134B80E4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EC4E02B-3198-170E-31F6-7642637EC9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8A07A4F-29B4-6D7C-CAD2-7B1880D5C6C2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2E478581-ED86-E21F-B670-CF396BC13F1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3C563404-D40A-FFCF-E8B0-59B0612F483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62852ABF-D3E8-3145-353E-DB9CD5A0358A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2D53BFC7-569D-2097-71C6-AD4B06A0540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A969066-7E6C-A393-697B-C2B8288F380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0AB29B4C-914B-3081-4A26-9699046DBB1F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84E7F527-3EA9-E1B0-115B-84CAFABAD0A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4CB64685-9C4E-3801-4B04-9495B0A687C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40A4FFA3-C06C-EFC1-FED9-D3C9BE4AF7F8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C69A5603-4080-5790-D408-3450AD345E9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72CE0E3B-8A44-0A02-B5CD-06E5D565727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E546AA40-7AD8-329D-732B-A16E9C74A6B8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2C6108D9-85DD-5FC8-5F9A-AD694A2936E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9C216D88-6B8A-D410-37D5-74E902DBBDA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F0B99ED-54A8-92EE-9898-C398304DB3A6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1DAB2AB-54CF-9FD8-B1E4-010149B5A56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5F9B3B8E-4644-702F-1E0C-85D9FCEEBDD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882A71B6-8CB0-B2D3-6506-8389FFA7796C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F37468C3-FA46-705E-2C80-C92F1BCAB64E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14817118-C86D-9A56-1750-6D9A7B14FA0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809C7EDF-3E23-4F47-EE6E-F95650E4BE7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B5C05DB-C1E0-9450-77CA-B6B80B5CBB0E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CB4C5-324C-67C9-CC0B-35657F84271E}"/>
              </a:ext>
            </a:extLst>
          </p:cNvPr>
          <p:cNvSpPr txBox="1"/>
          <p:nvPr/>
        </p:nvSpPr>
        <p:spPr>
          <a:xfrm>
            <a:off x="6392769" y="1146935"/>
            <a:ext cx="42859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DETAILS PAGE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F6BE5-DE54-49A9-80EA-ABC7EED6EBE7}"/>
              </a:ext>
            </a:extLst>
          </p:cNvPr>
          <p:cNvSpPr txBox="1"/>
          <p:nvPr/>
        </p:nvSpPr>
        <p:spPr>
          <a:xfrm>
            <a:off x="3532417" y="6821859"/>
            <a:ext cx="1292678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page displays complete information about a selected job including description, required skills, and salary.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allows users to view detailed job information and track their application status.</a:t>
            </a:r>
          </a:p>
          <a:p>
            <a:br>
              <a:rPr lang="en-US" sz="3200" dirty="0"/>
            </a:b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D9B7EE-7759-F0D5-592C-C8BC4305CD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8725" y="2136505"/>
            <a:ext cx="5542549" cy="439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6217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75FEFF-7E92-B3A8-1EFF-C2E229189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78077174-DDD1-7261-93EF-68F5BEE6DA5A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DC13E98-A2B0-B258-B938-405E97116FA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DB3A2114-F634-473F-F799-A871DB7EBC65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8(F)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2010598B-6D40-7127-4E1A-27F2C18263D0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4D06339-A381-F732-B107-073E7C4E084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02250B92-386A-0290-B2A9-623C451A30A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3BF87B87-7EF0-0B86-A6D9-CDE48B92AE85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9A776EE4-7AC0-8400-C960-BEB7E5F8F79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B1CC29D1-2E74-25E1-D5C4-FF4FCB787BB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ACDBD1B3-EFE3-52A7-74CE-F95EF4A17A83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8E94E15C-838C-0767-66FF-251DB9DBC53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5C562C6F-CB2D-55B2-7A45-D1887B77204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D90268BE-7543-A824-F154-1366723F859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1732C978-33E1-5F71-C647-C61B2E9EBA4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5758969F-BB60-9805-E53D-B8FA41B1E6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FD1BA0F9-F450-FD66-25BA-A72EA8928798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D0223AC-3B88-6694-EF4A-A31EC8868F0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BA97716-9B4B-102A-706D-FAE65E3E198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C615E94-0835-B71B-FBEE-B64BA27E9B21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6A93EDA1-78CC-298E-1D82-1A311323A0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A8857637-3848-EBFA-4704-7041674EB34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207FF2B0-68E9-88CF-F6C0-60561B6F8A9B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BB341B07-B3B0-765C-7A54-FE873BEEA2E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2BE56054-9829-93E0-CE0C-F0CF759CF42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958F60C-0BFC-7F35-CDF1-0E8CE6AEA0CE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DB9F76F1-3F68-DF56-E14A-D7F0C2F0F7A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9E71D209-7837-18EA-916E-D02A268A181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DD06A2D2-CD2D-2EF2-7CC6-760B405DC5EB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BEFBBDC0-D865-38C7-B786-4ADA9DBAED2F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34EF92F2-654B-6A8E-1D3A-A32ECFC3A93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2A80EFC7-7710-7696-3046-AA900A94A195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D5B96202-A31A-E367-A77D-A41693B6B74F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6EE82-BF90-3D0B-D5EE-A3CD8BF1A43D}"/>
              </a:ext>
            </a:extLst>
          </p:cNvPr>
          <p:cNvSpPr txBox="1"/>
          <p:nvPr/>
        </p:nvSpPr>
        <p:spPr>
          <a:xfrm>
            <a:off x="6392769" y="1146935"/>
            <a:ext cx="743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APPLICANT MANAGEMENT PAGE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10EEBE-2712-45B4-8BC4-EDB278409951}"/>
              </a:ext>
            </a:extLst>
          </p:cNvPr>
          <p:cNvSpPr txBox="1"/>
          <p:nvPr/>
        </p:nvSpPr>
        <p:spPr>
          <a:xfrm>
            <a:off x="3039551" y="6611516"/>
            <a:ext cx="1327386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page allows employers to view all applicants for a specific job along with details like name, email, background, and resume.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enables employers to update application status by shortlisting or rejecting candidates.</a:t>
            </a:r>
          </a:p>
          <a:p>
            <a:br>
              <a:rPr lang="en-US" sz="3200" dirty="0"/>
            </a:br>
            <a:br>
              <a:rPr lang="en-US" sz="3200" dirty="0"/>
            </a:b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CDFA25-3E47-8BA3-DAA7-E2CE9194BB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2791" y="2597301"/>
            <a:ext cx="8226217" cy="293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093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C1A447-2AC5-F2DD-A4E3-337FA95B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7B306A3D-593E-4E3E-07DB-A1C68B205610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762564-FFFE-5114-E869-618C5E6A711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ADF66B0-7370-D6C9-4D54-B2B3EF82321D}"/>
                </a:ext>
              </a:extLst>
            </p:cNvPr>
            <p:cNvSpPr txBox="1"/>
            <p:nvPr/>
          </p:nvSpPr>
          <p:spPr>
            <a:xfrm>
              <a:off x="76200" y="19050"/>
              <a:ext cx="7366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8(G)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2347B767-9BFC-7A96-13FB-E308F71E1277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194388A-680C-77D6-4E49-01C36A18689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DC45F252-6929-2B1E-AF61-0313736B0EE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68F53D3C-7307-6256-36F1-15171D39ADBA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24AE15E-22ED-6F77-5D3D-4C52A46BCC3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F246C432-B02F-743D-90B4-99699B7F74A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DB21665-D0D3-2B2F-5B53-D9A13E36D13C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32AA8457-D421-5F32-10C4-DE3C200F084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DFB47D60-E53B-2FA3-BACE-2EE5C0E99EF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1916A3A3-7ED8-9DC1-CC07-B0C79287CC8B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29099D09-8964-0E86-2702-2F427682CA9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2E80486D-2EE4-33C0-6933-AEB5BB002F8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2809461A-5DF2-E169-4D1A-B82E6D6B2DF3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4C1E6225-18E7-2274-C081-0560D78D06A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DFB3E645-349C-7A4C-A44A-A2D79246436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83468A02-1647-77A8-47A3-E0E37ED796A8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9339ED3D-063E-B267-0066-CEC0E70B389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8D31C3DF-E0BC-F904-F991-3374419492B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6529DB4A-FB6F-C730-640E-43BF1B93F103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8B850395-F56B-DD60-79AF-69BB870B5BB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EF758238-3881-205A-7799-4D8038ED28F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BB55160C-0565-7208-6B62-F786268C5983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DE6F447F-5CB3-0B2B-71D1-62C1C9AB870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51B44093-2DA8-F71C-12A3-81CE02A142B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1AECD64C-6C51-B882-D358-B5FD85442CBB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2AF8F3FF-4E67-A3E6-5D5A-6CA376C3889B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3AC76731-C6DB-AF73-2CE5-0D53E5729F7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7EFFD425-17CD-1874-03E9-E45032887955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C8048EA-F3D4-6E7D-3350-99B6A8FBF1F6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EDBDEC-ADE7-6AED-EA64-1EBC39C6D7CD}"/>
              </a:ext>
            </a:extLst>
          </p:cNvPr>
          <p:cNvSpPr txBox="1"/>
          <p:nvPr/>
        </p:nvSpPr>
        <p:spPr>
          <a:xfrm>
            <a:off x="6392769" y="1146935"/>
            <a:ext cx="743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APPLICANT MANAGEMENT PAGE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FB8BCE-BE6A-5C67-8EC4-B290BCD29D33}"/>
              </a:ext>
            </a:extLst>
          </p:cNvPr>
          <p:cNvSpPr txBox="1"/>
          <p:nvPr/>
        </p:nvSpPr>
        <p:spPr>
          <a:xfrm>
            <a:off x="3039551" y="6611516"/>
            <a:ext cx="1327386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page allows employers to view all applicants for a specific job along with details like name, email, background, and resume.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enables employers to update application status by shortlisting or rejecting candidates.</a:t>
            </a:r>
          </a:p>
          <a:p>
            <a:br>
              <a:rPr lang="en-US" sz="3200" dirty="0"/>
            </a:br>
            <a:br>
              <a:rPr lang="en-US" sz="3200" dirty="0"/>
            </a:b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29317D-8AE3-241C-113B-0116738869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2791" y="2597301"/>
            <a:ext cx="8226217" cy="293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87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BAB55-7601-3C41-6F10-EE0F67F77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B9E2C662-B058-485B-BFC3-199F93F6D154}"/>
              </a:ext>
            </a:extLst>
          </p:cNvPr>
          <p:cNvGrpSpPr/>
          <p:nvPr/>
        </p:nvGrpSpPr>
        <p:grpSpPr>
          <a:xfrm>
            <a:off x="735588" y="7321525"/>
            <a:ext cx="992463" cy="992463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25CA7A-BCD4-5B7F-7069-AE7F5BD10A9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7E08158-57E2-530C-A7FD-5AF72088CF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B09EB64-B1EE-DA7A-E7DC-97163FE53167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B04A57D-53E9-134E-70C7-51485932A21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C0A25AD-0459-BAEA-2E7B-0D9279AE1BC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0EBC171-BEE8-2D5E-8755-EE50B2570259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4000A93-AB8F-B573-E218-7434988FD58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228826C-BC2E-0DA0-107F-341F9D1A494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7FD594E4-E181-FD3B-1C72-DE2D718C274A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C16DA90C-521A-EFE9-8EE9-CB3967A5095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5A678428-7466-DB88-0126-41232DE4A0D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1D279A8-BDAA-B12E-DD4B-9978E9D5005C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08F1BB3-7F58-DE0C-71F1-9782E09061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5F43F9B-B904-0414-7AA7-1E7959C4C9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311E9EBB-A9CE-A64F-FF44-F82C0D52AC3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DED3A9EA-E50F-553B-EDAA-87F95FD2280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7E9C7CEA-D993-4107-0776-54AC90E2062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7B397A27-1CC9-9661-DA24-10B3E104239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2A8CD899-9C63-11A3-805F-4CA0E12C7CB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1976C224-9A36-532E-5E8B-B738C9FBC3F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E8CFE39F-6666-6E69-8980-5B55F6D56478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F859737D-AFDF-BDFC-6651-3B954F2DD4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B7B59B44-AD68-1549-9F86-A09D82459B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3FACABC2-D51C-1EF5-0D1B-34B410283F2E}"/>
              </a:ext>
            </a:extLst>
          </p:cNvPr>
          <p:cNvGrpSpPr/>
          <p:nvPr/>
        </p:nvGrpSpPr>
        <p:grpSpPr>
          <a:xfrm>
            <a:off x="977741" y="6653894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6DD43112-BD1E-86D9-D9C6-3C97559FC56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C34845E4-4A4B-0A81-5A55-14004816579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sp>
        <p:nvSpPr>
          <p:cNvPr id="32" name="Freeform 32">
            <a:extLst>
              <a:ext uri="{FF2B5EF4-FFF2-40B4-BE49-F238E27FC236}">
                <a16:creationId xmlns:a16="http://schemas.microsoft.com/office/drawing/2014/main" id="{05CB8E9D-B497-44FF-DB18-7D166BD2DA61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44" name="Group 44">
            <a:extLst>
              <a:ext uri="{FF2B5EF4-FFF2-40B4-BE49-F238E27FC236}">
                <a16:creationId xmlns:a16="http://schemas.microsoft.com/office/drawing/2014/main" id="{FBD0A79F-CA0B-2560-37ED-E07624B11027}"/>
              </a:ext>
            </a:extLst>
          </p:cNvPr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25583CD3-FA12-1B53-043B-9FE4E18BA0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46" name="TextBox 46">
              <a:extLst>
                <a:ext uri="{FF2B5EF4-FFF2-40B4-BE49-F238E27FC236}">
                  <a16:creationId xmlns:a16="http://schemas.microsoft.com/office/drawing/2014/main" id="{FA405478-0BA8-4A85-A81A-B9346174FE6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926643-39EA-932E-6755-230476B3078D}"/>
              </a:ext>
            </a:extLst>
          </p:cNvPr>
          <p:cNvSpPr txBox="1"/>
          <p:nvPr/>
        </p:nvSpPr>
        <p:spPr>
          <a:xfrm>
            <a:off x="190500" y="290493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&amp; LIMITATIONS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5F6650-A943-C59C-FFEF-E35B35BB2DCC}"/>
              </a:ext>
            </a:extLst>
          </p:cNvPr>
          <p:cNvSpPr txBox="1"/>
          <p:nvPr/>
        </p:nvSpPr>
        <p:spPr>
          <a:xfrm>
            <a:off x="2677693" y="2019513"/>
            <a:ext cx="10035248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ADVANTAGES: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Reduces manual recruitment process and saves time.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Easy job search and application for users.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Employers can manage job postings and applicants efficiently.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real-time application tracking and updates.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Centralized database ensures organized data management.</a:t>
            </a:r>
          </a:p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Requires internet and system availability.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Basic security (can be improved with advanced encryption).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Depends on server availability (Spring Boot/MySQL).</a:t>
            </a:r>
          </a:p>
        </p:txBody>
      </p:sp>
    </p:spTree>
    <p:extLst>
      <p:ext uri="{BB962C8B-B14F-4D97-AF65-F5344CB8AC3E}">
        <p14:creationId xmlns:p14="http://schemas.microsoft.com/office/powerpoint/2010/main" val="1838976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2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3200400" y="4486172"/>
            <a:ext cx="11159653" cy="131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149"/>
              </a:lnSpc>
            </a:pPr>
            <a:r>
              <a:rPr lang="en-US" sz="11153" b="1" i="1" dirty="0">
                <a:solidFill>
                  <a:srgbClr val="191919"/>
                </a:solidFill>
                <a:latin typeface="Gotham Bold Italics"/>
                <a:ea typeface="Gotham Bold Italics"/>
                <a:cs typeface="Gotham Bold Italics"/>
                <a:sym typeface="Gotham Bold Italics"/>
              </a:rPr>
              <a:t>Thank you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7689</TotalTime>
  <Words>1464</Words>
  <Application>Microsoft Macintosh PowerPoint</Application>
  <PresentationFormat>Custom</PresentationFormat>
  <Paragraphs>368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Cambria</vt:lpstr>
      <vt:lpstr>Bookman Old Style</vt:lpstr>
      <vt:lpstr>Gotham</vt:lpstr>
      <vt:lpstr>Arial</vt:lpstr>
      <vt:lpstr>Calibri</vt:lpstr>
      <vt:lpstr>Aptos</vt:lpstr>
      <vt:lpstr>Times New Roman</vt:lpstr>
      <vt:lpstr>Gotham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Orange Simple Portfolio Presentation</dc:title>
  <cp:lastModifiedBy>sai charan</cp:lastModifiedBy>
  <cp:revision>18</cp:revision>
  <dcterms:created xsi:type="dcterms:W3CDTF">2006-08-16T00:00:00Z</dcterms:created>
  <dcterms:modified xsi:type="dcterms:W3CDTF">2026-04-22T10:33:07Z</dcterms:modified>
  <dc:identifier>DAHCaYqJ9OU</dc:identifier>
</cp:coreProperties>
</file>